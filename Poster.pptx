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1pPr>
    <a:lvl2pPr marL="2106643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2pPr>
    <a:lvl3pPr marL="4213283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3pPr>
    <a:lvl4pPr marL="6319928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4pPr>
    <a:lvl5pPr marL="8426571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5pPr>
    <a:lvl6pPr marL="10533216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6pPr>
    <a:lvl7pPr marL="12639854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7pPr>
    <a:lvl8pPr marL="14746499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8pPr>
    <a:lvl9pPr marL="16853142" algn="l" defTabSz="4213283" rtl="0" eaLnBrk="1" latinLnBrk="0" hangingPunct="1">
      <a:defRPr sz="829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64"/>
    <p:restoredTop sz="50058"/>
  </p:normalViewPr>
  <p:slideViewPr>
    <p:cSldViewPr snapToGrid="0" snapToObjects="1">
      <p:cViewPr>
        <p:scale>
          <a:sx n="50" d="100"/>
          <a:sy n="50" d="100"/>
        </p:scale>
        <p:origin x="36" y="-55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0" y="7183124"/>
            <a:ext cx="24688800" cy="15280640"/>
          </a:xfrm>
        </p:spPr>
        <p:txBody>
          <a:bodyPr anchor="b"/>
          <a:lstStyle>
            <a:lvl1pPr algn="ctr">
              <a:defRPr sz="12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4"/>
            <a:ext cx="24688800" cy="10596876"/>
          </a:xfrm>
        </p:spPr>
        <p:txBody>
          <a:bodyPr/>
          <a:lstStyle>
            <a:lvl1pPr marL="0" indent="0" algn="ctr">
              <a:buNone/>
              <a:defRPr sz="4860"/>
            </a:lvl1pPr>
            <a:lvl2pPr marL="925807" indent="0" algn="ctr">
              <a:buNone/>
              <a:defRPr sz="4050"/>
            </a:lvl2pPr>
            <a:lvl3pPr marL="1851614" indent="0" algn="ctr">
              <a:buNone/>
              <a:defRPr sz="3645"/>
            </a:lvl3pPr>
            <a:lvl4pPr marL="2777421" indent="0" algn="ctr">
              <a:buNone/>
              <a:defRPr sz="3240"/>
            </a:lvl4pPr>
            <a:lvl5pPr marL="3703227" indent="0" algn="ctr">
              <a:buNone/>
              <a:defRPr sz="3240"/>
            </a:lvl5pPr>
            <a:lvl6pPr marL="4629035" indent="0" algn="ctr">
              <a:buNone/>
              <a:defRPr sz="3240"/>
            </a:lvl6pPr>
            <a:lvl7pPr marL="5554841" indent="0" algn="ctr">
              <a:buNone/>
              <a:defRPr sz="3240"/>
            </a:lvl7pPr>
            <a:lvl8pPr marL="6480648" indent="0" algn="ctr">
              <a:buNone/>
              <a:defRPr sz="3240"/>
            </a:lvl8pPr>
            <a:lvl9pPr marL="7406455" indent="0" algn="ctr">
              <a:buNone/>
              <a:defRPr sz="32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3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6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5" y="10942326"/>
            <a:ext cx="28392120" cy="18257516"/>
          </a:xfrm>
        </p:spPr>
        <p:txBody>
          <a:bodyPr anchor="b"/>
          <a:lstStyle>
            <a:lvl1pPr>
              <a:defRPr sz="12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5" y="29372566"/>
            <a:ext cx="28392120" cy="9601196"/>
          </a:xfrm>
        </p:spPr>
        <p:txBody>
          <a:bodyPr/>
          <a:lstStyle>
            <a:lvl1pPr marL="0" indent="0">
              <a:buNone/>
              <a:defRPr sz="4860">
                <a:solidFill>
                  <a:schemeClr val="tx1">
                    <a:tint val="75000"/>
                  </a:schemeClr>
                </a:solidFill>
              </a:defRPr>
            </a:lvl1pPr>
            <a:lvl2pPr marL="925807" indent="0">
              <a:buNone/>
              <a:defRPr sz="4050">
                <a:solidFill>
                  <a:schemeClr val="tx1">
                    <a:tint val="75000"/>
                  </a:schemeClr>
                </a:solidFill>
              </a:defRPr>
            </a:lvl2pPr>
            <a:lvl3pPr marL="1851614" indent="0">
              <a:buNone/>
              <a:defRPr sz="3645">
                <a:solidFill>
                  <a:schemeClr val="tx1">
                    <a:tint val="75000"/>
                  </a:schemeClr>
                </a:solidFill>
              </a:defRPr>
            </a:lvl3pPr>
            <a:lvl4pPr marL="2777421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4pPr>
            <a:lvl5pPr marL="3703227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5pPr>
            <a:lvl6pPr marL="4629035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6pPr>
            <a:lvl7pPr marL="5554841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7pPr>
            <a:lvl8pPr marL="6480648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8pPr>
            <a:lvl9pPr marL="7406455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0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7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02"/>
            <a:ext cx="28392120" cy="8483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2" y="10759444"/>
            <a:ext cx="13926025" cy="5273036"/>
          </a:xfrm>
        </p:spPr>
        <p:txBody>
          <a:bodyPr anchor="b"/>
          <a:lstStyle>
            <a:lvl1pPr marL="0" indent="0">
              <a:buNone/>
              <a:defRPr sz="4860" b="1"/>
            </a:lvl1pPr>
            <a:lvl2pPr marL="925807" indent="0">
              <a:buNone/>
              <a:defRPr sz="4050" b="1"/>
            </a:lvl2pPr>
            <a:lvl3pPr marL="1851614" indent="0">
              <a:buNone/>
              <a:defRPr sz="3645" b="1"/>
            </a:lvl3pPr>
            <a:lvl4pPr marL="2777421" indent="0">
              <a:buNone/>
              <a:defRPr sz="3240" b="1"/>
            </a:lvl4pPr>
            <a:lvl5pPr marL="3703227" indent="0">
              <a:buNone/>
              <a:defRPr sz="3240" b="1"/>
            </a:lvl5pPr>
            <a:lvl6pPr marL="4629035" indent="0">
              <a:buNone/>
              <a:defRPr sz="3240" b="1"/>
            </a:lvl6pPr>
            <a:lvl7pPr marL="5554841" indent="0">
              <a:buNone/>
              <a:defRPr sz="3240" b="1"/>
            </a:lvl7pPr>
            <a:lvl8pPr marL="6480648" indent="0">
              <a:buNone/>
              <a:defRPr sz="3240" b="1"/>
            </a:lvl8pPr>
            <a:lvl9pPr marL="7406455" indent="0">
              <a:buNone/>
              <a:defRPr sz="3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2" y="16032480"/>
            <a:ext cx="13926025" cy="23581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0" y="10759444"/>
            <a:ext cx="13994608" cy="5273036"/>
          </a:xfrm>
        </p:spPr>
        <p:txBody>
          <a:bodyPr anchor="b"/>
          <a:lstStyle>
            <a:lvl1pPr marL="0" indent="0">
              <a:buNone/>
              <a:defRPr sz="4860" b="1"/>
            </a:lvl1pPr>
            <a:lvl2pPr marL="925807" indent="0">
              <a:buNone/>
              <a:defRPr sz="4050" b="1"/>
            </a:lvl2pPr>
            <a:lvl3pPr marL="1851614" indent="0">
              <a:buNone/>
              <a:defRPr sz="3645" b="1"/>
            </a:lvl3pPr>
            <a:lvl4pPr marL="2777421" indent="0">
              <a:buNone/>
              <a:defRPr sz="3240" b="1"/>
            </a:lvl4pPr>
            <a:lvl5pPr marL="3703227" indent="0">
              <a:buNone/>
              <a:defRPr sz="3240" b="1"/>
            </a:lvl5pPr>
            <a:lvl6pPr marL="4629035" indent="0">
              <a:buNone/>
              <a:defRPr sz="3240" b="1"/>
            </a:lvl6pPr>
            <a:lvl7pPr marL="5554841" indent="0">
              <a:buNone/>
              <a:defRPr sz="3240" b="1"/>
            </a:lvl7pPr>
            <a:lvl8pPr marL="6480648" indent="0">
              <a:buNone/>
              <a:defRPr sz="3240" b="1"/>
            </a:lvl8pPr>
            <a:lvl9pPr marL="7406455" indent="0">
              <a:buNone/>
              <a:defRPr sz="3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0" y="16032480"/>
            <a:ext cx="13994608" cy="23581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5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9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6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30" y="2926080"/>
            <a:ext cx="10617040" cy="10241280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24"/>
            <a:ext cx="16664940" cy="31191200"/>
          </a:xfrm>
        </p:spPr>
        <p:txBody>
          <a:bodyPr/>
          <a:lstStyle>
            <a:lvl1pPr>
              <a:defRPr sz="6480"/>
            </a:lvl1pPr>
            <a:lvl2pPr>
              <a:defRPr sz="5670"/>
            </a:lvl2pPr>
            <a:lvl3pPr>
              <a:defRPr sz="4860"/>
            </a:lvl3pPr>
            <a:lvl4pPr>
              <a:defRPr sz="4050"/>
            </a:lvl4pPr>
            <a:lvl5pPr>
              <a:defRPr sz="4050"/>
            </a:lvl5pPr>
            <a:lvl6pPr>
              <a:defRPr sz="4050"/>
            </a:lvl6pPr>
            <a:lvl7pPr>
              <a:defRPr sz="4050"/>
            </a:lvl7pPr>
            <a:lvl8pPr>
              <a:defRPr sz="4050"/>
            </a:lvl8pPr>
            <a:lvl9pPr>
              <a:defRPr sz="4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30" y="13167360"/>
            <a:ext cx="10617040" cy="24394164"/>
          </a:xfrm>
        </p:spPr>
        <p:txBody>
          <a:bodyPr/>
          <a:lstStyle>
            <a:lvl1pPr marL="0" indent="0">
              <a:buNone/>
              <a:defRPr sz="3240"/>
            </a:lvl1pPr>
            <a:lvl2pPr marL="925807" indent="0">
              <a:buNone/>
              <a:defRPr sz="2835"/>
            </a:lvl2pPr>
            <a:lvl3pPr marL="1851614" indent="0">
              <a:buNone/>
              <a:defRPr sz="2430"/>
            </a:lvl3pPr>
            <a:lvl4pPr marL="2777421" indent="0">
              <a:buNone/>
              <a:defRPr sz="2025"/>
            </a:lvl4pPr>
            <a:lvl5pPr marL="3703227" indent="0">
              <a:buNone/>
              <a:defRPr sz="2025"/>
            </a:lvl5pPr>
            <a:lvl6pPr marL="4629035" indent="0">
              <a:buNone/>
              <a:defRPr sz="2025"/>
            </a:lvl6pPr>
            <a:lvl7pPr marL="5554841" indent="0">
              <a:buNone/>
              <a:defRPr sz="2025"/>
            </a:lvl7pPr>
            <a:lvl8pPr marL="6480648" indent="0">
              <a:buNone/>
              <a:defRPr sz="2025"/>
            </a:lvl8pPr>
            <a:lvl9pPr marL="7406455" indent="0">
              <a:buNone/>
              <a:defRPr sz="20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3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30" y="2926080"/>
            <a:ext cx="10617040" cy="10241280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994608" y="6319524"/>
            <a:ext cx="16664940" cy="31191200"/>
          </a:xfrm>
        </p:spPr>
        <p:txBody>
          <a:bodyPr/>
          <a:lstStyle>
            <a:lvl1pPr marL="0" indent="0">
              <a:buNone/>
              <a:defRPr sz="6480"/>
            </a:lvl1pPr>
            <a:lvl2pPr marL="925807" indent="0">
              <a:buNone/>
              <a:defRPr sz="5670"/>
            </a:lvl2pPr>
            <a:lvl3pPr marL="1851614" indent="0">
              <a:buNone/>
              <a:defRPr sz="4860"/>
            </a:lvl3pPr>
            <a:lvl4pPr marL="2777421" indent="0">
              <a:buNone/>
              <a:defRPr sz="4050"/>
            </a:lvl4pPr>
            <a:lvl5pPr marL="3703227" indent="0">
              <a:buNone/>
              <a:defRPr sz="4050"/>
            </a:lvl5pPr>
            <a:lvl6pPr marL="4629035" indent="0">
              <a:buNone/>
              <a:defRPr sz="4050"/>
            </a:lvl6pPr>
            <a:lvl7pPr marL="5554841" indent="0">
              <a:buNone/>
              <a:defRPr sz="4050"/>
            </a:lvl7pPr>
            <a:lvl8pPr marL="6480648" indent="0">
              <a:buNone/>
              <a:defRPr sz="4050"/>
            </a:lvl8pPr>
            <a:lvl9pPr marL="7406455" indent="0">
              <a:buNone/>
              <a:defRPr sz="405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30" y="13167360"/>
            <a:ext cx="10617040" cy="24394164"/>
          </a:xfrm>
        </p:spPr>
        <p:txBody>
          <a:bodyPr/>
          <a:lstStyle>
            <a:lvl1pPr marL="0" indent="0">
              <a:buNone/>
              <a:defRPr sz="3240"/>
            </a:lvl1pPr>
            <a:lvl2pPr marL="925807" indent="0">
              <a:buNone/>
              <a:defRPr sz="2835"/>
            </a:lvl2pPr>
            <a:lvl3pPr marL="1851614" indent="0">
              <a:buNone/>
              <a:defRPr sz="2430"/>
            </a:lvl3pPr>
            <a:lvl4pPr marL="2777421" indent="0">
              <a:buNone/>
              <a:defRPr sz="2025"/>
            </a:lvl4pPr>
            <a:lvl5pPr marL="3703227" indent="0">
              <a:buNone/>
              <a:defRPr sz="2025"/>
            </a:lvl5pPr>
            <a:lvl6pPr marL="4629035" indent="0">
              <a:buNone/>
              <a:defRPr sz="2025"/>
            </a:lvl6pPr>
            <a:lvl7pPr marL="5554841" indent="0">
              <a:buNone/>
              <a:defRPr sz="2025"/>
            </a:lvl7pPr>
            <a:lvl8pPr marL="6480648" indent="0">
              <a:buNone/>
              <a:defRPr sz="2025"/>
            </a:lvl8pPr>
            <a:lvl9pPr marL="7406455" indent="0">
              <a:buNone/>
              <a:defRPr sz="20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3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3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0" y="2336800"/>
            <a:ext cx="7098030" cy="37195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0" y="2336800"/>
            <a:ext cx="20882610" cy="37195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1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02"/>
            <a:ext cx="28392120" cy="8483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44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AAA7C-CD1B-4640-982D-F8957D86B83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44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44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17BA6-2182-6C49-829E-00DA2BD0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94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51614" rtl="0" eaLnBrk="1" latinLnBrk="0" hangingPunct="1">
        <a:lnSpc>
          <a:spcPct val="90000"/>
        </a:lnSpc>
        <a:spcBef>
          <a:spcPct val="0"/>
        </a:spcBef>
        <a:buNone/>
        <a:defRPr sz="891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62903" indent="-462903" algn="l" defTabSz="1851614" rtl="0" eaLnBrk="1" latinLnBrk="0" hangingPunct="1">
        <a:lnSpc>
          <a:spcPct val="90000"/>
        </a:lnSpc>
        <a:spcBef>
          <a:spcPts val="2025"/>
        </a:spcBef>
        <a:buFont typeface="Arial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1pPr>
      <a:lvl2pPr marL="1388711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314517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3pPr>
      <a:lvl4pPr marL="3240324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4pPr>
      <a:lvl5pPr marL="4166131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5pPr>
      <a:lvl6pPr marL="5091938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6pPr>
      <a:lvl7pPr marL="6017745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7pPr>
      <a:lvl8pPr marL="6943551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8pPr>
      <a:lvl9pPr marL="7869359" indent="-462903" algn="l" defTabSz="1851614" rtl="0" eaLnBrk="1" latinLnBrk="0" hangingPunct="1">
        <a:lnSpc>
          <a:spcPct val="90000"/>
        </a:lnSpc>
        <a:spcBef>
          <a:spcPts val="1013"/>
        </a:spcBef>
        <a:buFont typeface="Arial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1pPr>
      <a:lvl2pPr marL="925807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2pPr>
      <a:lvl3pPr marL="1851614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3pPr>
      <a:lvl4pPr marL="2777421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4pPr>
      <a:lvl5pPr marL="3703227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5pPr>
      <a:lvl6pPr marL="4629035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6pPr>
      <a:lvl7pPr marL="5554841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7pPr>
      <a:lvl8pPr marL="6480648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8pPr>
      <a:lvl9pPr marL="7406455" algn="l" defTabSz="1851614" rtl="0" eaLnBrk="1" latinLnBrk="0" hangingPunct="1">
        <a:defRPr sz="36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3129" y="4965845"/>
            <a:ext cx="28265718" cy="1703896"/>
          </a:xfrm>
        </p:spPr>
        <p:txBody>
          <a:bodyPr>
            <a:normAutofit fontScale="90000"/>
          </a:bodyPr>
          <a:lstStyle/>
          <a:p>
            <a:r>
              <a:rPr lang="en-US" sz="9600" b="1" dirty="0">
                <a:solidFill>
                  <a:schemeClr val="bg2"/>
                </a:solidFill>
              </a:rPr>
              <a:t>Project E: CoordConv CNN for Object Classification and Bounding Box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F8F11-EBEC-7AA2-54AD-CF4CB5CDD6BB}"/>
              </a:ext>
            </a:extLst>
          </p:cNvPr>
          <p:cNvSpPr txBox="1"/>
          <p:nvPr/>
        </p:nvSpPr>
        <p:spPr>
          <a:xfrm>
            <a:off x="18933458" y="6715907"/>
            <a:ext cx="134470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2"/>
                </a:solidFill>
              </a:rPr>
              <a:t>Dual-task learning using U-Net style Encoder-Decoder with Residual Blocks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9C750-7330-0F65-6B0F-DE3057A4B3B1}"/>
              </a:ext>
            </a:extLst>
          </p:cNvPr>
          <p:cNvSpPr txBox="1"/>
          <p:nvPr/>
        </p:nvSpPr>
        <p:spPr>
          <a:xfrm>
            <a:off x="4440022" y="6715907"/>
            <a:ext cx="95449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Author: Sihan A, Daniel David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3473F2-A859-854C-9BD7-7C3470969543}"/>
              </a:ext>
            </a:extLst>
          </p:cNvPr>
          <p:cNvSpPr/>
          <p:nvPr/>
        </p:nvSpPr>
        <p:spPr>
          <a:xfrm>
            <a:off x="2486211" y="9192974"/>
            <a:ext cx="18087790" cy="122214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0" b="1" dirty="0"/>
              <a:t>      1. Abstract &amp; Objective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919FE4-324A-9719-92EE-8DC2C6CDF70C}"/>
              </a:ext>
            </a:extLst>
          </p:cNvPr>
          <p:cNvSpPr/>
          <p:nvPr/>
        </p:nvSpPr>
        <p:spPr>
          <a:xfrm>
            <a:off x="2486212" y="10415119"/>
            <a:ext cx="18087790" cy="71895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We propose a multi-task Convolutional Neural Network (CNN) designed to </a:t>
            </a:r>
          </a:p>
          <a:p>
            <a:r>
              <a:rPr lang="en-US" sz="4000" b="1" dirty="0"/>
              <a:t>simultaneously classify objects and regress their spatial bounding boxes. </a:t>
            </a:r>
          </a:p>
          <a:p>
            <a:r>
              <a:rPr lang="en-US" sz="4000" b="1" dirty="0"/>
              <a:t>Dataset: </a:t>
            </a:r>
          </a:p>
          <a:p>
            <a:r>
              <a:rPr lang="en-US" sz="4000" b="1" dirty="0"/>
              <a:t>	1.Custom video dataset flattened to frames. </a:t>
            </a:r>
          </a:p>
          <a:p>
            <a:r>
              <a:rPr lang="en-US" sz="4000" b="1" dirty="0"/>
              <a:t>	2.5 Classes: Ball, Mug, Pen, Spoon, Notebook. </a:t>
            </a:r>
          </a:p>
          <a:p>
            <a:r>
              <a:rPr lang="en-US" sz="4000" b="1" dirty="0"/>
              <a:t>	3.Labels: Class ID + Bounding Box [x, y, w, h]. </a:t>
            </a:r>
          </a:p>
          <a:p>
            <a:r>
              <a:rPr lang="en-US" sz="4000" b="1" dirty="0"/>
              <a:t>Key Challenges: </a:t>
            </a:r>
          </a:p>
          <a:p>
            <a:r>
              <a:rPr lang="en-US" sz="4000" b="1" dirty="0"/>
              <a:t>	1.Standard convolutions are translation-equivariant, making 	absolute coordinate prediction difficult. </a:t>
            </a:r>
          </a:p>
          <a:p>
            <a:r>
              <a:rPr lang="en-US" sz="4000" b="1" dirty="0"/>
              <a:t>	2.Small objects (e.g., Pen, Spoon) require precise localization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FADF4F-22FC-BAF5-DCBD-1FEC7500F8A4}"/>
              </a:ext>
            </a:extLst>
          </p:cNvPr>
          <p:cNvSpPr/>
          <p:nvPr/>
        </p:nvSpPr>
        <p:spPr>
          <a:xfrm>
            <a:off x="2486210" y="9101524"/>
            <a:ext cx="18087790" cy="8503194"/>
          </a:xfrm>
          <a:custGeom>
            <a:avLst/>
            <a:gdLst>
              <a:gd name="connsiteX0" fmla="*/ 0 w 18087790"/>
              <a:gd name="connsiteY0" fmla="*/ 0 h 8503194"/>
              <a:gd name="connsiteX1" fmla="*/ 18087790 w 18087790"/>
              <a:gd name="connsiteY1" fmla="*/ 0 h 8503194"/>
              <a:gd name="connsiteX2" fmla="*/ 18087790 w 18087790"/>
              <a:gd name="connsiteY2" fmla="*/ 8503194 h 8503194"/>
              <a:gd name="connsiteX3" fmla="*/ 0 w 18087790"/>
              <a:gd name="connsiteY3" fmla="*/ 8503194 h 8503194"/>
              <a:gd name="connsiteX4" fmla="*/ 0 w 18087790"/>
              <a:gd name="connsiteY4" fmla="*/ 0 h 8503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7790" h="8503194" extrusionOk="0">
                <a:moveTo>
                  <a:pt x="0" y="0"/>
                </a:moveTo>
                <a:cubicBezTo>
                  <a:pt x="5136045" y="118645"/>
                  <a:pt x="11949214" y="116012"/>
                  <a:pt x="18087790" y="0"/>
                </a:cubicBezTo>
                <a:cubicBezTo>
                  <a:pt x="17954908" y="1121404"/>
                  <a:pt x="18172741" y="4511977"/>
                  <a:pt x="18087790" y="8503194"/>
                </a:cubicBezTo>
                <a:cubicBezTo>
                  <a:pt x="12300426" y="8637794"/>
                  <a:pt x="7353347" y="8345998"/>
                  <a:pt x="0" y="8503194"/>
                </a:cubicBezTo>
                <a:cubicBezTo>
                  <a:pt x="-20187" y="7309443"/>
                  <a:pt x="-152480" y="950889"/>
                  <a:pt x="0" y="0"/>
                </a:cubicBezTo>
                <a:close/>
              </a:path>
            </a:pathLst>
          </a:custGeom>
          <a:noFill/>
          <a:ln w="254000" cmpd="tri">
            <a:solidFill>
              <a:srgbClr val="00B05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E3DA13-A1DC-D701-9D6D-666E96718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5776" y="1000542"/>
            <a:ext cx="2911529" cy="2911529"/>
          </a:xfrm>
          <a:prstGeom prst="rect">
            <a:avLst/>
          </a:prstGeom>
          <a:effectLst>
            <a:glow>
              <a:schemeClr val="accent3">
                <a:alpha val="72000"/>
              </a:schemeClr>
            </a:glow>
            <a:softEdge rad="127000"/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E903C5B-1678-7FC6-06F6-768433C70487}"/>
              </a:ext>
            </a:extLst>
          </p:cNvPr>
          <p:cNvSpPr/>
          <p:nvPr/>
        </p:nvSpPr>
        <p:spPr>
          <a:xfrm>
            <a:off x="21560119" y="9192974"/>
            <a:ext cx="10820400" cy="17361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0" b="1" dirty="0"/>
              <a:t>      2. Data Pipeline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40E4EA-9CB5-EFDB-481E-BE435F727C5E}"/>
              </a:ext>
            </a:extLst>
          </p:cNvPr>
          <p:cNvSpPr/>
          <p:nvPr/>
        </p:nvSpPr>
        <p:spPr>
          <a:xfrm>
            <a:off x="21560118" y="10654378"/>
            <a:ext cx="10820400" cy="91139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To ensure robust generalization, we implemented an efficient tf.data pipeline: </a:t>
            </a:r>
          </a:p>
          <a:p>
            <a:r>
              <a:rPr lang="en-US" sz="4000" b="1" dirty="0"/>
              <a:t>1.Preprocessing: </a:t>
            </a:r>
          </a:p>
          <a:p>
            <a:r>
              <a:rPr lang="en-US" sz="4000" b="1" dirty="0"/>
              <a:t>     1.1Normalize pixel values to [0, 1]. </a:t>
            </a:r>
          </a:p>
          <a:p>
            <a:r>
              <a:rPr lang="en-US" sz="4000" b="1" dirty="0"/>
              <a:t>     1.2Normalize bounding box coordinates relative to image size (100 × 100). </a:t>
            </a:r>
          </a:p>
          <a:p>
            <a:r>
              <a:rPr lang="en-US" sz="4000" b="1" dirty="0"/>
              <a:t>2.Augmentation: </a:t>
            </a:r>
          </a:p>
          <a:p>
            <a:r>
              <a:rPr lang="en-US" sz="4000" b="1" dirty="0"/>
              <a:t>    2.1Random Brightness (</a:t>
            </a:r>
            <a:r>
              <a:rPr lang="el-GR" sz="4000" b="1" dirty="0"/>
              <a:t>δ = 0.1) &amp; </a:t>
            </a:r>
            <a:r>
              <a:rPr lang="en-US" sz="4000" b="1" dirty="0"/>
              <a:t>Contrast (0.8 − 1.2). </a:t>
            </a:r>
          </a:p>
          <a:p>
            <a:r>
              <a:rPr lang="en-US" sz="4000" b="1" dirty="0"/>
              <a:t>    2.2Horizontal Flip: Crucially, bounding box         	coordinates are mirrored </a:t>
            </a:r>
          </a:p>
          <a:p>
            <a:r>
              <a:rPr lang="en-US" sz="4000" b="1" dirty="0"/>
              <a:t>(x new = 1.0 − (x + w)) when the image is flipped.</a:t>
            </a:r>
          </a:p>
          <a:p>
            <a:endParaRPr lang="en-US" sz="40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15F648-AADA-5C04-9A7C-84BEDEC57D00}"/>
              </a:ext>
            </a:extLst>
          </p:cNvPr>
          <p:cNvSpPr/>
          <p:nvPr/>
        </p:nvSpPr>
        <p:spPr>
          <a:xfrm>
            <a:off x="21576980" y="9172142"/>
            <a:ext cx="10820400" cy="10575367"/>
          </a:xfrm>
          <a:custGeom>
            <a:avLst/>
            <a:gdLst>
              <a:gd name="connsiteX0" fmla="*/ 0 w 10820400"/>
              <a:gd name="connsiteY0" fmla="*/ 0 h 10575367"/>
              <a:gd name="connsiteX1" fmla="*/ 10820400 w 10820400"/>
              <a:gd name="connsiteY1" fmla="*/ 0 h 10575367"/>
              <a:gd name="connsiteX2" fmla="*/ 10820400 w 10820400"/>
              <a:gd name="connsiteY2" fmla="*/ 10575367 h 10575367"/>
              <a:gd name="connsiteX3" fmla="*/ 0 w 10820400"/>
              <a:gd name="connsiteY3" fmla="*/ 10575367 h 10575367"/>
              <a:gd name="connsiteX4" fmla="*/ 0 w 10820400"/>
              <a:gd name="connsiteY4" fmla="*/ 0 h 1057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20400" h="10575367" extrusionOk="0">
                <a:moveTo>
                  <a:pt x="0" y="0"/>
                </a:moveTo>
                <a:cubicBezTo>
                  <a:pt x="1501157" y="118645"/>
                  <a:pt x="8376486" y="116012"/>
                  <a:pt x="10820400" y="0"/>
                </a:cubicBezTo>
                <a:cubicBezTo>
                  <a:pt x="10687518" y="2937930"/>
                  <a:pt x="10905351" y="8159490"/>
                  <a:pt x="10820400" y="10575367"/>
                </a:cubicBezTo>
                <a:cubicBezTo>
                  <a:pt x="9576340" y="10709967"/>
                  <a:pt x="3728003" y="10418171"/>
                  <a:pt x="0" y="10575367"/>
                </a:cubicBezTo>
                <a:cubicBezTo>
                  <a:pt x="-20187" y="7854933"/>
                  <a:pt x="-152480" y="4037996"/>
                  <a:pt x="0" y="0"/>
                </a:cubicBezTo>
                <a:close/>
              </a:path>
            </a:pathLst>
          </a:custGeom>
          <a:noFill/>
          <a:ln w="254000" cmpd="tri">
            <a:solidFill>
              <a:srgbClr val="00B05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D22A17-C6CD-94DF-752C-14257227602C}"/>
              </a:ext>
            </a:extLst>
          </p:cNvPr>
          <p:cNvSpPr/>
          <p:nvPr/>
        </p:nvSpPr>
        <p:spPr>
          <a:xfrm>
            <a:off x="2486211" y="20578950"/>
            <a:ext cx="23266897" cy="12554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0" b="1" dirty="0"/>
              <a:t>      3. Methodology: CoordConv Architecture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D7867A-EDC8-7530-26EF-62D316BB4286}"/>
              </a:ext>
            </a:extLst>
          </p:cNvPr>
          <p:cNvSpPr/>
          <p:nvPr/>
        </p:nvSpPr>
        <p:spPr>
          <a:xfrm>
            <a:off x="2486212" y="21885175"/>
            <a:ext cx="23266897" cy="137256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/>
              <a:t>We utilize a U-Net-style Encoder-Decoder enhanced with Residual Blocks and </a:t>
            </a:r>
          </a:p>
          <a:p>
            <a:r>
              <a:rPr lang="en-US" sz="4000" dirty="0"/>
              <a:t>the CoordConv mechanism. </a:t>
            </a:r>
          </a:p>
          <a:p>
            <a:r>
              <a:rPr lang="en-US" sz="4000" dirty="0"/>
              <a:t>The CoordConv Layer (AddCoords): </a:t>
            </a:r>
          </a:p>
          <a:p>
            <a:r>
              <a:rPr lang="en-US" sz="4000" dirty="0"/>
              <a:t>    1. Standard CNNs fail at coordinate transform tasks. </a:t>
            </a:r>
          </a:p>
          <a:p>
            <a:r>
              <a:rPr lang="en-US" sz="4000" dirty="0"/>
              <a:t>    2.We inject explicit spatial information by concatenating two extra channels: </a:t>
            </a:r>
          </a:p>
          <a:p>
            <a:r>
              <a:rPr lang="en-US" sz="4000" dirty="0"/>
              <a:t>	1.i-coordinate channel (normalized row indices). </a:t>
            </a:r>
          </a:p>
          <a:p>
            <a:r>
              <a:rPr lang="en-US" sz="4000" dirty="0"/>
              <a:t>	2.j-coordinate channel (normalized column indices)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5B9358-91A1-2324-CB56-A0C39EF47907}"/>
              </a:ext>
            </a:extLst>
          </p:cNvPr>
          <p:cNvSpPr/>
          <p:nvPr/>
        </p:nvSpPr>
        <p:spPr>
          <a:xfrm>
            <a:off x="2486210" y="20578950"/>
            <a:ext cx="23266897" cy="15031850"/>
          </a:xfrm>
          <a:custGeom>
            <a:avLst/>
            <a:gdLst>
              <a:gd name="connsiteX0" fmla="*/ 0 w 23266897"/>
              <a:gd name="connsiteY0" fmla="*/ 0 h 15031850"/>
              <a:gd name="connsiteX1" fmla="*/ 23266897 w 23266897"/>
              <a:gd name="connsiteY1" fmla="*/ 0 h 15031850"/>
              <a:gd name="connsiteX2" fmla="*/ 23266897 w 23266897"/>
              <a:gd name="connsiteY2" fmla="*/ 15031850 h 15031850"/>
              <a:gd name="connsiteX3" fmla="*/ 0 w 23266897"/>
              <a:gd name="connsiteY3" fmla="*/ 15031850 h 15031850"/>
              <a:gd name="connsiteX4" fmla="*/ 0 w 23266897"/>
              <a:gd name="connsiteY4" fmla="*/ 0 h 15031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66897" h="15031850" extrusionOk="0">
                <a:moveTo>
                  <a:pt x="0" y="0"/>
                </a:moveTo>
                <a:cubicBezTo>
                  <a:pt x="8526928" y="118645"/>
                  <a:pt x="20034587" y="116012"/>
                  <a:pt x="23266897" y="0"/>
                </a:cubicBezTo>
                <a:cubicBezTo>
                  <a:pt x="23134015" y="4732429"/>
                  <a:pt x="23351848" y="9601256"/>
                  <a:pt x="23266897" y="15031850"/>
                </a:cubicBezTo>
                <a:cubicBezTo>
                  <a:pt x="16941933" y="15166450"/>
                  <a:pt x="4333595" y="14874654"/>
                  <a:pt x="0" y="15031850"/>
                </a:cubicBezTo>
                <a:cubicBezTo>
                  <a:pt x="-20187" y="8878022"/>
                  <a:pt x="-152480" y="5894576"/>
                  <a:pt x="0" y="0"/>
                </a:cubicBezTo>
                <a:close/>
              </a:path>
            </a:pathLst>
          </a:custGeom>
          <a:noFill/>
          <a:ln w="254000" cmpd="tri">
            <a:solidFill>
              <a:srgbClr val="00B05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C8CD67-359F-F347-F7ED-044C162929F3}"/>
              </a:ext>
            </a:extLst>
          </p:cNvPr>
          <p:cNvSpPr/>
          <p:nvPr/>
        </p:nvSpPr>
        <p:spPr>
          <a:xfrm>
            <a:off x="7914791" y="26718076"/>
            <a:ext cx="3962402" cy="9531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Input (100 </a:t>
            </a:r>
            <a:r>
              <a:rPr lang="en-US" sz="3200" i="1" dirty="0"/>
              <a:t>× </a:t>
            </a:r>
            <a:r>
              <a:rPr lang="en-US" sz="3200" dirty="0"/>
              <a:t>100 </a:t>
            </a:r>
            <a:r>
              <a:rPr lang="en-US" sz="3200" i="1" dirty="0"/>
              <a:t>× </a:t>
            </a:r>
            <a:r>
              <a:rPr lang="en-US" sz="3200" dirty="0"/>
              <a:t>3)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9BCC25-FCE1-240E-A26C-71D3908A8BB5}"/>
              </a:ext>
            </a:extLst>
          </p:cNvPr>
          <p:cNvSpPr/>
          <p:nvPr/>
        </p:nvSpPr>
        <p:spPr>
          <a:xfrm>
            <a:off x="7974904" y="28356177"/>
            <a:ext cx="3962402" cy="9531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ResNet Encoder </a:t>
            </a:r>
          </a:p>
          <a:p>
            <a:pPr algn="ctr"/>
            <a:r>
              <a:rPr lang="en-US" sz="3200" dirty="0"/>
              <a:t>(Downsampling)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84BCF2C-5755-E74F-6749-9C84B35D2E99}"/>
              </a:ext>
            </a:extLst>
          </p:cNvPr>
          <p:cNvSpPr/>
          <p:nvPr/>
        </p:nvSpPr>
        <p:spPr>
          <a:xfrm>
            <a:off x="8613291" y="29994278"/>
            <a:ext cx="2685628" cy="737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BottleNeck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0363F96-A4E3-ED80-5256-8947DDBF9C09}"/>
              </a:ext>
            </a:extLst>
          </p:cNvPr>
          <p:cNvSpPr/>
          <p:nvPr/>
        </p:nvSpPr>
        <p:spPr>
          <a:xfrm>
            <a:off x="7771704" y="31416578"/>
            <a:ext cx="4248575" cy="9531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U-Net Decoder </a:t>
            </a:r>
          </a:p>
          <a:p>
            <a:pPr algn="ctr"/>
            <a:r>
              <a:rPr lang="en-US" sz="3200" dirty="0"/>
              <a:t>(Upsampling + Skips)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14F9B6-6C62-6794-5652-D877575C7C38}"/>
              </a:ext>
            </a:extLst>
          </p:cNvPr>
          <p:cNvSpPr/>
          <p:nvPr/>
        </p:nvSpPr>
        <p:spPr>
          <a:xfrm>
            <a:off x="3523129" y="33054679"/>
            <a:ext cx="4248575" cy="15662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Global Avg Pool </a:t>
            </a:r>
          </a:p>
          <a:p>
            <a:pPr algn="ctr"/>
            <a:r>
              <a:rPr lang="en-US" sz="3200" dirty="0"/>
              <a:t>+ </a:t>
            </a:r>
          </a:p>
          <a:p>
            <a:pPr algn="ctr"/>
            <a:r>
              <a:rPr lang="en-US" sz="3200" dirty="0"/>
              <a:t>Softmax (5 Classes)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4AEFC4C-53F0-917D-FF4F-C017579DFEDC}"/>
              </a:ext>
            </a:extLst>
          </p:cNvPr>
          <p:cNvSpPr/>
          <p:nvPr/>
        </p:nvSpPr>
        <p:spPr>
          <a:xfrm>
            <a:off x="12020279" y="33054679"/>
            <a:ext cx="4248575" cy="15662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CoordConv Layer </a:t>
            </a:r>
          </a:p>
          <a:p>
            <a:pPr algn="ctr"/>
            <a:r>
              <a:rPr lang="en-US" sz="3200" dirty="0"/>
              <a:t>+ </a:t>
            </a:r>
          </a:p>
          <a:p>
            <a:pPr algn="ctr"/>
            <a:r>
              <a:rPr lang="en-US" sz="3200" dirty="0"/>
              <a:t>Sigmoid (x, y, w, h)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D1F07B-1937-2983-E314-E4F4D4D85A97}"/>
              </a:ext>
            </a:extLst>
          </p:cNvPr>
          <p:cNvSpPr txBox="1"/>
          <p:nvPr/>
        </p:nvSpPr>
        <p:spPr>
          <a:xfrm>
            <a:off x="8153550" y="33654130"/>
            <a:ext cx="40944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E6F1FF"/>
                </a:solidFill>
                <a:effectLst/>
                <a:latin typeface="LMRoman17-Regular"/>
              </a:rPr>
              <a:t>Multi-Task Learning</a:t>
            </a:r>
            <a:endParaRPr lang="en-US" sz="32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032EEFE-3B7A-76BC-1C4F-6987C920DC32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9956105" y="27671200"/>
            <a:ext cx="0" cy="6849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646D728-BB65-83F1-F78B-A7C07A73B4FF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9956105" y="29309301"/>
            <a:ext cx="0" cy="6849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20A9A67-5A27-6FDB-55DF-EA64FD313B68}"/>
              </a:ext>
            </a:extLst>
          </p:cNvPr>
          <p:cNvCxnSpPr>
            <a:cxnSpLocks/>
          </p:cNvCxnSpPr>
          <p:nvPr/>
        </p:nvCxnSpPr>
        <p:spPr>
          <a:xfrm>
            <a:off x="9956105" y="30731601"/>
            <a:ext cx="0" cy="6849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Elbow Connector 1024">
            <a:extLst>
              <a:ext uri="{FF2B5EF4-FFF2-40B4-BE49-F238E27FC236}">
                <a16:creationId xmlns:a16="http://schemas.microsoft.com/office/drawing/2014/main" id="{0D6EA0EB-EBB8-3001-E96A-E4FE5BEE76C6}"/>
              </a:ext>
            </a:extLst>
          </p:cNvPr>
          <p:cNvCxnSpPr>
            <a:stCxn id="58" idx="1"/>
            <a:endCxn id="59" idx="0"/>
          </p:cNvCxnSpPr>
          <p:nvPr/>
        </p:nvCxnSpPr>
        <p:spPr>
          <a:xfrm rot="10800000" flipV="1">
            <a:off x="5647418" y="31893139"/>
            <a:ext cx="2124287" cy="1161539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Elbow Connector 1026">
            <a:extLst>
              <a:ext uri="{FF2B5EF4-FFF2-40B4-BE49-F238E27FC236}">
                <a16:creationId xmlns:a16="http://schemas.microsoft.com/office/drawing/2014/main" id="{2A5C5080-DCA9-DDB3-D8B4-E8899AAA7542}"/>
              </a:ext>
            </a:extLst>
          </p:cNvPr>
          <p:cNvCxnSpPr>
            <a:stCxn id="58" idx="3"/>
            <a:endCxn id="60" idx="0"/>
          </p:cNvCxnSpPr>
          <p:nvPr/>
        </p:nvCxnSpPr>
        <p:spPr>
          <a:xfrm>
            <a:off x="12020279" y="31893140"/>
            <a:ext cx="2124288" cy="1161539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11276E95-D1C7-0A22-BCDA-880DD2C32A76}"/>
              </a:ext>
            </a:extLst>
          </p:cNvPr>
          <p:cNvSpPr/>
          <p:nvPr/>
        </p:nvSpPr>
        <p:spPr>
          <a:xfrm>
            <a:off x="17356247" y="26828300"/>
            <a:ext cx="15074745" cy="217486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0" b="1" dirty="0"/>
              <a:t>      4. Results &amp; Evaluation</a:t>
            </a: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119BD0BB-4A54-42E9-CDD6-38C181C16C8F}"/>
              </a:ext>
            </a:extLst>
          </p:cNvPr>
          <p:cNvSpPr/>
          <p:nvPr/>
        </p:nvSpPr>
        <p:spPr>
          <a:xfrm>
            <a:off x="17365884" y="28461597"/>
            <a:ext cx="15074745" cy="1285684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Metrics on Validation Set:</a:t>
            </a:r>
          </a:p>
          <a:p>
            <a:r>
              <a:rPr lang="en-US" sz="4000" b="1" dirty="0"/>
              <a:t>   1. Classification Accuracy: ≈ 92%</a:t>
            </a:r>
          </a:p>
          <a:p>
            <a:r>
              <a:rPr lang="en-US" sz="4000" b="1" dirty="0"/>
              <a:t>   2. Mean IoU (Correct Classes): ≈ 0.67 − 0.83</a:t>
            </a:r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571DC7FF-0EF9-A30B-65F9-555A32AEDE58}"/>
              </a:ext>
            </a:extLst>
          </p:cNvPr>
          <p:cNvSpPr/>
          <p:nvPr/>
        </p:nvSpPr>
        <p:spPr>
          <a:xfrm>
            <a:off x="17305771" y="26746168"/>
            <a:ext cx="15074745" cy="14572270"/>
          </a:xfrm>
          <a:custGeom>
            <a:avLst/>
            <a:gdLst>
              <a:gd name="connsiteX0" fmla="*/ 0 w 15074745"/>
              <a:gd name="connsiteY0" fmla="*/ 0 h 14572270"/>
              <a:gd name="connsiteX1" fmla="*/ 15074745 w 15074745"/>
              <a:gd name="connsiteY1" fmla="*/ 0 h 14572270"/>
              <a:gd name="connsiteX2" fmla="*/ 15074745 w 15074745"/>
              <a:gd name="connsiteY2" fmla="*/ 14572270 h 14572270"/>
              <a:gd name="connsiteX3" fmla="*/ 0 w 15074745"/>
              <a:gd name="connsiteY3" fmla="*/ 14572270 h 14572270"/>
              <a:gd name="connsiteX4" fmla="*/ 0 w 15074745"/>
              <a:gd name="connsiteY4" fmla="*/ 0 h 14572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74745" h="14572270" extrusionOk="0">
                <a:moveTo>
                  <a:pt x="0" y="0"/>
                </a:moveTo>
                <a:cubicBezTo>
                  <a:pt x="5990442" y="118645"/>
                  <a:pt x="9081305" y="116012"/>
                  <a:pt x="15074745" y="0"/>
                </a:cubicBezTo>
                <a:cubicBezTo>
                  <a:pt x="14941863" y="4519321"/>
                  <a:pt x="15159696" y="8078637"/>
                  <a:pt x="15074745" y="14572270"/>
                </a:cubicBezTo>
                <a:cubicBezTo>
                  <a:pt x="13429071" y="14706870"/>
                  <a:pt x="7410089" y="14415074"/>
                  <a:pt x="0" y="14572270"/>
                </a:cubicBezTo>
                <a:cubicBezTo>
                  <a:pt x="-20187" y="11343656"/>
                  <a:pt x="-152480" y="5257753"/>
                  <a:pt x="0" y="0"/>
                </a:cubicBezTo>
                <a:close/>
              </a:path>
            </a:pathLst>
          </a:custGeom>
          <a:noFill/>
          <a:ln w="254000" cmpd="tri">
            <a:solidFill>
              <a:srgbClr val="00B05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98E122FD-9A46-BED9-D064-7AE4AF899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9646" y="35980990"/>
            <a:ext cx="13767815" cy="4169798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BB2F4C8C-06E6-66A6-FD55-18C930205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9646" y="30996092"/>
            <a:ext cx="8471920" cy="4385905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C1F756A3-C039-3948-25FD-56ECBCC31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1688" y="22402146"/>
            <a:ext cx="5298320" cy="3403355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4739237-263A-B0EF-B473-349D00F882D2}"/>
              </a:ext>
            </a:extLst>
          </p:cNvPr>
          <p:cNvSpPr/>
          <p:nvPr/>
        </p:nvSpPr>
        <p:spPr>
          <a:xfrm>
            <a:off x="2553399" y="36142077"/>
            <a:ext cx="12741977" cy="1154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0" b="1" dirty="0"/>
              <a:t>      5. Conclusion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DF7C4621-F23F-8267-B127-5F71D2DE7DFB}"/>
              </a:ext>
            </a:extLst>
          </p:cNvPr>
          <p:cNvSpPr/>
          <p:nvPr/>
        </p:nvSpPr>
        <p:spPr>
          <a:xfrm>
            <a:off x="2519804" y="37323225"/>
            <a:ext cx="12741978" cy="47585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1. The CoordConv layer significantly improves the network’s ability to map </a:t>
            </a:r>
          </a:p>
          <a:p>
            <a:r>
              <a:rPr lang="en-US" sz="4000" b="1" dirty="0"/>
              <a:t>spatial coordinates to pixel space. </a:t>
            </a:r>
          </a:p>
          <a:p>
            <a:r>
              <a:rPr lang="en-US" sz="4000" b="1" dirty="0"/>
              <a:t>2. U-Net skip connections preserve fine-grained features essential for small </a:t>
            </a:r>
          </a:p>
          <a:p>
            <a:r>
              <a:rPr lang="en-US" sz="4000" b="1" dirty="0"/>
              <a:t>object detection. </a:t>
            </a:r>
          </a:p>
          <a:p>
            <a:r>
              <a:rPr lang="en-US" sz="4000" b="1" dirty="0"/>
              <a:t>3. The system runs efficiently on frame-level data with robust accuracy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370E788-E393-75B8-FBF8-B7FE7F0517DB}"/>
              </a:ext>
            </a:extLst>
          </p:cNvPr>
          <p:cNvSpPr/>
          <p:nvPr/>
        </p:nvSpPr>
        <p:spPr>
          <a:xfrm>
            <a:off x="2486210" y="35980990"/>
            <a:ext cx="12809167" cy="6262586"/>
          </a:xfrm>
          <a:custGeom>
            <a:avLst/>
            <a:gdLst>
              <a:gd name="connsiteX0" fmla="*/ 0 w 12809167"/>
              <a:gd name="connsiteY0" fmla="*/ 0 h 6262586"/>
              <a:gd name="connsiteX1" fmla="*/ 12809167 w 12809167"/>
              <a:gd name="connsiteY1" fmla="*/ 0 h 6262586"/>
              <a:gd name="connsiteX2" fmla="*/ 12809167 w 12809167"/>
              <a:gd name="connsiteY2" fmla="*/ 6262586 h 6262586"/>
              <a:gd name="connsiteX3" fmla="*/ 0 w 12809167"/>
              <a:gd name="connsiteY3" fmla="*/ 6262586 h 6262586"/>
              <a:gd name="connsiteX4" fmla="*/ 0 w 12809167"/>
              <a:gd name="connsiteY4" fmla="*/ 0 h 626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09167" h="6262586" extrusionOk="0">
                <a:moveTo>
                  <a:pt x="0" y="0"/>
                </a:moveTo>
                <a:cubicBezTo>
                  <a:pt x="5624799" y="118645"/>
                  <a:pt x="9657444" y="116012"/>
                  <a:pt x="12809167" y="0"/>
                </a:cubicBezTo>
                <a:cubicBezTo>
                  <a:pt x="12676285" y="2142100"/>
                  <a:pt x="12894118" y="5064630"/>
                  <a:pt x="12809167" y="6262586"/>
                </a:cubicBezTo>
                <a:cubicBezTo>
                  <a:pt x="10970303" y="6397186"/>
                  <a:pt x="3312246" y="6105390"/>
                  <a:pt x="0" y="6262586"/>
                </a:cubicBezTo>
                <a:cubicBezTo>
                  <a:pt x="-20187" y="5338611"/>
                  <a:pt x="-152480" y="2782695"/>
                  <a:pt x="0" y="0"/>
                </a:cubicBezTo>
                <a:close/>
              </a:path>
            </a:pathLst>
          </a:custGeom>
          <a:noFill/>
          <a:ln w="254000" cmpd="tri">
            <a:solidFill>
              <a:srgbClr val="00B05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1" name="Elbow Connector 1040">
            <a:extLst>
              <a:ext uri="{FF2B5EF4-FFF2-40B4-BE49-F238E27FC236}">
                <a16:creationId xmlns:a16="http://schemas.microsoft.com/office/drawing/2014/main" id="{09F34F77-ACED-11F0-96F0-D307DFD76291}"/>
              </a:ext>
            </a:extLst>
          </p:cNvPr>
          <p:cNvCxnSpPr>
            <a:cxnSpLocks/>
            <a:endCxn id="26" idx="0"/>
          </p:cNvCxnSpPr>
          <p:nvPr/>
        </p:nvCxnSpPr>
        <p:spPr>
          <a:xfrm rot="16200000" flipH="1">
            <a:off x="11334458" y="17793749"/>
            <a:ext cx="2980848" cy="2589554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Elbow Connector 1044">
            <a:extLst>
              <a:ext uri="{FF2B5EF4-FFF2-40B4-BE49-F238E27FC236}">
                <a16:creationId xmlns:a16="http://schemas.microsoft.com/office/drawing/2014/main" id="{9D075DEB-3225-4ADB-295C-8235EBA2446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98679" y="17904956"/>
            <a:ext cx="3190035" cy="2589554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Elbow Connector 1045">
            <a:extLst>
              <a:ext uri="{FF2B5EF4-FFF2-40B4-BE49-F238E27FC236}">
                <a16:creationId xmlns:a16="http://schemas.microsoft.com/office/drawing/2014/main" id="{49598670-C721-6CDC-5BC2-0FFDA54E021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51172" y="17921278"/>
            <a:ext cx="3183418" cy="255029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Elbow Connector 1049">
            <a:extLst>
              <a:ext uri="{FF2B5EF4-FFF2-40B4-BE49-F238E27FC236}">
                <a16:creationId xmlns:a16="http://schemas.microsoft.com/office/drawing/2014/main" id="{CC78D397-5714-09C3-4906-1257F28C5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468780" y="17813378"/>
            <a:ext cx="3183418" cy="255029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Elbow Connector 1050">
            <a:extLst>
              <a:ext uri="{FF2B5EF4-FFF2-40B4-BE49-F238E27FC236}">
                <a16:creationId xmlns:a16="http://schemas.microsoft.com/office/drawing/2014/main" id="{E1526F27-B5FC-419D-E358-A9DA0C94B1EE}"/>
              </a:ext>
            </a:extLst>
          </p:cNvPr>
          <p:cNvCxnSpPr>
            <a:cxnSpLocks/>
          </p:cNvCxnSpPr>
          <p:nvPr/>
        </p:nvCxnSpPr>
        <p:spPr>
          <a:xfrm>
            <a:off x="11067732" y="18161434"/>
            <a:ext cx="10276408" cy="1476849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Elbow Connector 1053">
            <a:extLst>
              <a:ext uri="{FF2B5EF4-FFF2-40B4-BE49-F238E27FC236}">
                <a16:creationId xmlns:a16="http://schemas.microsoft.com/office/drawing/2014/main" id="{A600DAC0-793B-7E54-9CC6-226FCB7BDC7D}"/>
              </a:ext>
            </a:extLst>
          </p:cNvPr>
          <p:cNvCxnSpPr>
            <a:cxnSpLocks/>
          </p:cNvCxnSpPr>
          <p:nvPr/>
        </p:nvCxnSpPr>
        <p:spPr>
          <a:xfrm>
            <a:off x="11298918" y="18374547"/>
            <a:ext cx="10197622" cy="141613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Elbow Connector 1054">
            <a:extLst>
              <a:ext uri="{FF2B5EF4-FFF2-40B4-BE49-F238E27FC236}">
                <a16:creationId xmlns:a16="http://schemas.microsoft.com/office/drawing/2014/main" id="{771563C0-8C5A-C098-63F0-6FF96E41E300}"/>
              </a:ext>
            </a:extLst>
          </p:cNvPr>
          <p:cNvCxnSpPr>
            <a:cxnSpLocks/>
          </p:cNvCxnSpPr>
          <p:nvPr/>
        </p:nvCxnSpPr>
        <p:spPr>
          <a:xfrm>
            <a:off x="11667824" y="18545384"/>
            <a:ext cx="9863600" cy="1397699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Elbow Connector 1055">
            <a:extLst>
              <a:ext uri="{FF2B5EF4-FFF2-40B4-BE49-F238E27FC236}">
                <a16:creationId xmlns:a16="http://schemas.microsoft.com/office/drawing/2014/main" id="{210C9D34-01DD-8622-19BC-FD3E2737EDD1}"/>
              </a:ext>
            </a:extLst>
          </p:cNvPr>
          <p:cNvCxnSpPr>
            <a:cxnSpLocks/>
          </p:cNvCxnSpPr>
          <p:nvPr/>
        </p:nvCxnSpPr>
        <p:spPr>
          <a:xfrm>
            <a:off x="11067731" y="17883895"/>
            <a:ext cx="10276409" cy="1427782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Elbow Connector 1061">
            <a:extLst>
              <a:ext uri="{FF2B5EF4-FFF2-40B4-BE49-F238E27FC236}">
                <a16:creationId xmlns:a16="http://schemas.microsoft.com/office/drawing/2014/main" id="{45B81AD2-7676-DFC1-3833-DC9E068BFF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850913" y="22133254"/>
            <a:ext cx="6738120" cy="2227170"/>
          </a:xfrm>
          <a:prstGeom prst="bentConnector3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Elbow Connector 1064">
            <a:extLst>
              <a:ext uri="{FF2B5EF4-FFF2-40B4-BE49-F238E27FC236}">
                <a16:creationId xmlns:a16="http://schemas.microsoft.com/office/drawing/2014/main" id="{4C57ED86-7A9E-DDEC-F88F-CAC0115B72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968932" y="22105948"/>
            <a:ext cx="6738120" cy="2227170"/>
          </a:xfrm>
          <a:prstGeom prst="bentConnector3">
            <a:avLst>
              <a:gd name="adj1" fmla="val 58832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Elbow Connector 1065">
            <a:extLst>
              <a:ext uri="{FF2B5EF4-FFF2-40B4-BE49-F238E27FC236}">
                <a16:creationId xmlns:a16="http://schemas.microsoft.com/office/drawing/2014/main" id="{6F34A52D-F02E-6B94-AD36-9622446F9FA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19173" y="22147923"/>
            <a:ext cx="6738120" cy="2227170"/>
          </a:xfrm>
          <a:prstGeom prst="bentConnector3">
            <a:avLst>
              <a:gd name="adj1" fmla="val 56031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Elbow Connector 1066">
            <a:extLst>
              <a:ext uri="{FF2B5EF4-FFF2-40B4-BE49-F238E27FC236}">
                <a16:creationId xmlns:a16="http://schemas.microsoft.com/office/drawing/2014/main" id="{B2C5F668-FFF1-C3C1-288D-EBC70D1864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297193" y="22140589"/>
            <a:ext cx="6738120" cy="2227170"/>
          </a:xfrm>
          <a:prstGeom prst="bentConnector3">
            <a:avLst>
              <a:gd name="adj1" fmla="val 528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Elbow Connector 1067">
            <a:extLst>
              <a:ext uri="{FF2B5EF4-FFF2-40B4-BE49-F238E27FC236}">
                <a16:creationId xmlns:a16="http://schemas.microsoft.com/office/drawing/2014/main" id="{0D4A3058-6636-E224-A0E8-B3E2CBD1F6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473504" y="22152639"/>
            <a:ext cx="6738120" cy="2227170"/>
          </a:xfrm>
          <a:prstGeom prst="bentConnector3">
            <a:avLst>
              <a:gd name="adj1" fmla="val 47415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F784D21F-3431-D115-674D-079154B86DB6}"/>
              </a:ext>
            </a:extLst>
          </p:cNvPr>
          <p:cNvCxnSpPr/>
          <p:nvPr/>
        </p:nvCxnSpPr>
        <p:spPr>
          <a:xfrm>
            <a:off x="25753107" y="21945600"/>
            <a:ext cx="19758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6DD85828-CACE-049A-F254-11DAF47AEA72}"/>
              </a:ext>
            </a:extLst>
          </p:cNvPr>
          <p:cNvCxnSpPr/>
          <p:nvPr/>
        </p:nvCxnSpPr>
        <p:spPr>
          <a:xfrm>
            <a:off x="25753106" y="22117878"/>
            <a:ext cx="19758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4DD7A7B6-74D0-6842-FB9D-4740F8F62316}"/>
              </a:ext>
            </a:extLst>
          </p:cNvPr>
          <p:cNvCxnSpPr/>
          <p:nvPr/>
        </p:nvCxnSpPr>
        <p:spPr>
          <a:xfrm>
            <a:off x="25753107" y="22341186"/>
            <a:ext cx="19758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DE889B21-4E34-BD19-26AB-A13D93661D4E}"/>
              </a:ext>
            </a:extLst>
          </p:cNvPr>
          <p:cNvCxnSpPr/>
          <p:nvPr/>
        </p:nvCxnSpPr>
        <p:spPr>
          <a:xfrm>
            <a:off x="25753105" y="22549899"/>
            <a:ext cx="19758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8" name="Picture 1077">
            <a:extLst>
              <a:ext uri="{FF2B5EF4-FFF2-40B4-BE49-F238E27FC236}">
                <a16:creationId xmlns:a16="http://schemas.microsoft.com/office/drawing/2014/main" id="{F7319F89-FF17-6C44-CFE3-B7D72EAA86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90348" y="21118845"/>
            <a:ext cx="3277113" cy="4234657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1036140795"/>
      </p:ext>
    </p:extLst>
  </p:cSld>
  <p:clrMapOvr>
    <a:masterClrMapping/>
  </p:clrMapOvr>
</p:sld>
</file>

<file path=ppt/theme/theme1.xml><?xml version="1.0" encoding="utf-8"?>
<a:theme xmlns:a="http://schemas.openxmlformats.org/drawingml/2006/main" name="HWCOE 2016 Them">
  <a:themeElements>
    <a:clrScheme name="Custom 4">
      <a:dk1>
        <a:sysClr val="windowText" lastClr="000000"/>
      </a:dk1>
      <a:lt1>
        <a:sysClr val="window" lastClr="FFFFFF"/>
      </a:lt1>
      <a:dk2>
        <a:srgbClr val="000C3E"/>
      </a:dk2>
      <a:lt2>
        <a:srgbClr val="6C9AC3"/>
      </a:lt2>
      <a:accent1>
        <a:srgbClr val="003663"/>
      </a:accent1>
      <a:accent2>
        <a:srgbClr val="005496"/>
      </a:accent2>
      <a:accent3>
        <a:srgbClr val="E17F35"/>
      </a:accent3>
      <a:accent4>
        <a:srgbClr val="FF4A00"/>
      </a:accent4>
      <a:accent5>
        <a:srgbClr val="FF4A00"/>
      </a:accent5>
      <a:accent6>
        <a:srgbClr val="6C9AC3"/>
      </a:accent6>
      <a:hlink>
        <a:srgbClr val="FF4A00"/>
      </a:hlink>
      <a:folHlink>
        <a:srgbClr val="FF7F35"/>
      </a:folHlink>
    </a:clrScheme>
    <a:fontScheme name="Module">
      <a:maj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HWCOE 2016 Theme</Template>
  <TotalTime>381</TotalTime>
  <Words>429</Words>
  <Application>Microsoft Office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Corbel</vt:lpstr>
      <vt:lpstr>LMRoman17-Regular</vt:lpstr>
      <vt:lpstr>HWCOE 2016 Them</vt:lpstr>
      <vt:lpstr>Project E: CoordConv CNN for Object Classification and Bounding Box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David, Daniel (USA)</cp:lastModifiedBy>
  <cp:revision>11</cp:revision>
  <dcterms:created xsi:type="dcterms:W3CDTF">2016-10-10T19:54:35Z</dcterms:created>
  <dcterms:modified xsi:type="dcterms:W3CDTF">2025-12-02T11:34:43Z</dcterms:modified>
</cp:coreProperties>
</file>